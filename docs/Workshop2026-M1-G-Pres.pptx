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Accroche : AetherCorp, micro-centrales isolées. SENTINEL-X = boîtier autonome + PC serveur local durci (Option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menaces du sujet, chacune associée à une brique du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 entrants autorisés : 8883 depuis le sous-réseau de table, 443. API (3000) et vision (8081) non exposées au 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Broches relevées dans firmware/sentinel_node/sentinel_node.ino. OLED en I2C 0x3C, affiche IP et état MQTTS.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Limites CPU/RAM/PID par conteneur, logs en rotation 10 Mo × 3. MCO du dashboard via /api/v1/system.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Chiffres issus de ml/evaluation.md (5 oct. 2026) et du /health du service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Preuves : infra/hardening/verify.sh → docs/preuves-securite.txt. Points ouverts : rootless, filtrage des ports des autres projets.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Lancer verify.sh avant le passage. Plan B : vidéo de démonstration si le réseau de table tombe.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Merci. Ouverture aux questions du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DejaVu Sans Mono"/>
              </a:rPr>
              <a:t>AetherCorp · Centre de surveillance de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33895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8686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685800" y="1874519"/>
            <a:ext cx="82296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MISSION · SOUTENANCE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0" b="1">
                <a:solidFill>
                  <a:srgbClr val="111111"/>
                </a:solidFill>
                <a:latin typeface="Ubuntu"/>
              </a:rPr>
              <a:t>SENTINEL</a:t>
            </a:r>
            <a:r>
              <a:rPr sz="8000" b="1">
                <a:solidFill>
                  <a:srgbClr val="C45C26"/>
                </a:solidFill>
                <a:latin typeface="Ubuntu"/>
              </a:rPr>
              <a:t>-X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6A64"/>
                </a:solidFill>
                <a:latin typeface="Ubuntu"/>
              </a:rPr>
              <a:t>Nœud IoT ESP8266 · stack Docker chiffrée · IA prédictive · vision embarquée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617720"/>
            <a:ext cx="658368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47000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Ubuntu"/>
              </a:rPr>
              <a:t>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6817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B — PC serveur (Edge-to-Server)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5001768"/>
            <a:ext cx="658368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85800" y="50840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Ubuntu"/>
              </a:rPr>
              <a:t>Cadre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0657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EPSI · Workshop Bac+4 (M1) · octobre 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5385816"/>
            <a:ext cx="658368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85800" y="5468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Ubuntu"/>
              </a:rPr>
              <a:t>Groupe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44982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DejaVu Sans Mono"/>
              </a:rPr>
              <a:t>M1-G__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5769864"/>
            <a:ext cx="658368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85800" y="621792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Ubuntu"/>
              </a:rPr>
              <a:t>Sentinel-X : </a:t>
            </a:r>
            <a:r>
              <a:rPr sz="1200" b="1">
                <a:solidFill>
                  <a:srgbClr val="C45C26"/>
                </a:solidFill>
                <a:latin typeface="Ubuntu"/>
              </a:rPr>
              <a:t>la sécurité à la bordure.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DejaVu Sans Mono"/>
              </a:rPr>
              <a:t>Document sans secret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01</a:t>
            </a:r>
            <a:r>
              <a:rPr sz="2800" b="1">
                <a:solidFill>
                  <a:srgbClr val="111111"/>
                </a:solidFill>
                <a:latin typeface="Ubuntu"/>
              </a:rPr>
              <a:t>   Contexte AetherCorp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Micro-centrales en zones isolées, sans personnel permanent : trois menaces simultanées.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606040"/>
            <a:ext cx="3362858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2788920"/>
            <a:ext cx="33628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C45C26"/>
                </a:solidFill>
                <a:latin typeface="DejaVu Sa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36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Ubuntu"/>
              </a:rPr>
              <a:t>Cyberattaques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33628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Déstabilisation du réseau : écoute, injection de commandes, saturation du broker.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257800"/>
            <a:ext cx="3362858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5376672"/>
            <a:ext cx="3362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Réponse SENTINEL-X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33628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MQTTS 8883 · HTTPS 443 · UFW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14418" y="2606040"/>
            <a:ext cx="3362858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4414418" y="2788920"/>
            <a:ext cx="33628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C45C26"/>
                </a:solidFill>
                <a:latin typeface="DejaVu Sans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4418" y="3474720"/>
            <a:ext cx="336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Ubuntu"/>
              </a:rPr>
              <a:t>Intrusions physiques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4418" y="4023360"/>
            <a:ext cx="33628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Espionnage industriel sur site, accès au boîtier et aux installations.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14418" y="5257800"/>
            <a:ext cx="3362858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414418" y="5376672"/>
            <a:ext cx="3362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Réponse SENTINEL-X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4418" y="5623560"/>
            <a:ext cx="33628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Webcam + YOLOv8n · sirène intrus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43036" y="2606040"/>
            <a:ext cx="3362859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143036" y="2788920"/>
            <a:ext cx="33628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C45C26"/>
                </a:solidFill>
                <a:latin typeface="DejaVu Sans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3474720"/>
            <a:ext cx="336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Ubuntu"/>
              </a:rPr>
              <a:t>Risques environnementaux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4023360"/>
            <a:ext cx="33628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Fuites de gaz combustibles, surchauffes thermiques lentes ou brutales.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43036" y="5257800"/>
            <a:ext cx="336285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8143036" y="5376672"/>
            <a:ext cx="3362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Réponse SENTINEL-X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3036" y="5623560"/>
            <a:ext cx="33628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MQ-2 + DHT22 · Isolation Forest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02</a:t>
            </a:r>
            <a:r>
              <a:rPr sz="2800" b="1">
                <a:solidFill>
                  <a:srgbClr val="111111"/>
                </a:solidFill>
                <a:latin typeface="Ubuntu"/>
              </a:rPr>
              <a:t>   Architecture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Option B : le PC apprenant héberge toute la stack ; le boîtier ne contient que l'ESP8266.</a:t>
            </a:r>
          </a:p>
        </p:txBody>
      </p:sp>
      <p:pic>
        <p:nvPicPr>
          <p:cNvPr id="10" name="Picture 9" descr="schema-res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6679406" cy="3886200"/>
          </a:xfrm>
          <a:prstGeom prst="rect">
            <a:avLst/>
          </a:prstGeom>
          <a:ln w="9525">
            <a:solidFill>
              <a:srgbClr val="D4D2C8"/>
            </a:solidFill>
          </a:ln>
        </p:spPr>
      </p:pic>
      <p:cxnSp>
        <p:nvCxnSpPr>
          <p:cNvPr id="11" name="Connector 10"/>
          <p:cNvCxnSpPr/>
          <p:nvPr/>
        </p:nvCxnSpPr>
        <p:spPr>
          <a:xfrm>
            <a:off x="7776686" y="2377440"/>
            <a:ext cx="372920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776686" y="2450592"/>
            <a:ext cx="3729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Capteurs → 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686" y="2679192"/>
            <a:ext cx="3729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ESP8266 → MQTTS 8883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6686" y="3127248"/>
            <a:ext cx="372920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776686" y="3200400"/>
            <a:ext cx="3729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Opérateur →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6686" y="3429000"/>
            <a:ext cx="3729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Navigateur → HTTPS 443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6686" y="3877056"/>
            <a:ext cx="372920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776686" y="3950208"/>
            <a:ext cx="3729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6686" y="4178808"/>
            <a:ext cx="3729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PostgreSQL 16, aucun port hôte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6686" y="4626864"/>
            <a:ext cx="372920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776686" y="4700016"/>
            <a:ext cx="3729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6686" y="4928616"/>
            <a:ext cx="3729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Webcam USB → YOLOv8n sur le PC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6686" y="5376672"/>
            <a:ext cx="372920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7776686" y="5449824"/>
            <a:ext cx="3729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Réseau de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6686" y="5678424"/>
            <a:ext cx="3729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172.20.10.0/28 · 14 hôtes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6686" y="6126480"/>
            <a:ext cx="3729209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03</a:t>
            </a:r>
            <a:r>
              <a:rPr sz="2800" b="1">
                <a:solidFill>
                  <a:srgbClr val="111111"/>
                </a:solidFill>
                <a:latin typeface="Ubuntu"/>
              </a:rPr>
              <a:t>   Boîtier &amp; câblage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NodeMCU v3 alimentée en USB, masse commune, 5 V pris sur VU.</a:t>
            </a:r>
          </a:p>
        </p:txBody>
      </p:sp>
      <p:pic>
        <p:nvPicPr>
          <p:cNvPr id="10" name="Picture 9" descr="schema-cab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6477000" cy="3886200"/>
          </a:xfrm>
          <a:prstGeom prst="rect">
            <a:avLst/>
          </a:prstGeom>
          <a:ln w="9525">
            <a:solidFill>
              <a:srgbClr val="D4D2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574280" y="2240280"/>
            <a:ext cx="2651455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Composant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2240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Broche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74280" y="2569464"/>
            <a:ext cx="393161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574280" y="256946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DHT22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256946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D5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4280" y="293522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574280" y="293522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PIR HW-416A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293522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D6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74280" y="330098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574280" y="330098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MQ-2 (5 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330098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A0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4280" y="366674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574280" y="366674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OLED SSD1306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366674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D1 · D2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74280" y="403250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574280" y="403250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Buzzer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7175" y="403250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D7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74280" y="439826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574280" y="439826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LED rouge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7175" y="439826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D0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74280" y="476402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574280" y="4764024"/>
            <a:ext cx="26331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LED verte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7175" y="476402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D8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74280" y="5129784"/>
            <a:ext cx="393161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7574280" y="5486400"/>
            <a:ext cx="39316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45C26"/>
                </a:solidFill>
                <a:latin typeface="DejaVu Sans Mono"/>
              </a:rPr>
              <a:t>! </a:t>
            </a:r>
            <a:r>
              <a:rPr sz="1100" b="0">
                <a:solidFill>
                  <a:srgbClr val="6B6A64"/>
                </a:solidFill>
                <a:latin typeface="Ubuntu"/>
              </a:rPr>
              <a:t>D8 bas au démarrage · AO du MQ-2 ≤ 3,3 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04</a:t>
            </a:r>
            <a:r>
              <a:rPr sz="2800" b="1">
                <a:solidFill>
                  <a:srgbClr val="111111"/>
                </a:solidFill>
                <a:latin typeface="Ubuntu"/>
              </a:rPr>
              <a:t>   Stack Docker + MQTTS / HTTPS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Cinq conteneurs, deux ports exposés, tout le trafic chiffré en TLS 1.3.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Conteneur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317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31720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Port hôte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660903"/>
            <a:ext cx="6858000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2660903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sentinel-mosquitto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660903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eclipse-mosquitto:2.0.20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60903"/>
            <a:ext cx="1627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8883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081527"/>
            <a:ext cx="685800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3081527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sentinel-proxy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081527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caddy:2.8-alpine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081527"/>
            <a:ext cx="1627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443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502151"/>
            <a:ext cx="685800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3502151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sentinel-api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502151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FastAPI (build)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502151"/>
            <a:ext cx="1627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127.0.0.1:3000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922776"/>
            <a:ext cx="685800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85800" y="3922776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sentinel-ml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922776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scikit-learn (build)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922776"/>
            <a:ext cx="1627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343400"/>
            <a:ext cx="685800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85800" y="4343400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sentinel-db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343400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postgres:16-alpine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343400"/>
            <a:ext cx="1627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DejaVu Sans Mono"/>
              </a:rPr>
              <a:t>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4764024"/>
            <a:ext cx="685800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8092440" y="2331720"/>
            <a:ext cx="3413455" cy="1645920"/>
          </a:xfrm>
          <a:prstGeom prst="rect">
            <a:avLst/>
          </a:prstGeom>
          <a:solidFill>
            <a:srgbClr val="EAE9E2"/>
          </a:solidFill>
          <a:ln w="9525">
            <a:solidFill>
              <a:srgbClr val="D4D2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496312"/>
            <a:ext cx="2956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45C26"/>
                </a:solidFill>
                <a:latin typeface="DejaVu Sans Mono"/>
              </a:rPr>
              <a:t>MQTTS · 8883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926079"/>
            <a:ext cx="29562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TLS 1.3 · anonyme refusé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Pin du certificat sur l'ESP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Comptes + ACL par rôle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4206240"/>
            <a:ext cx="3413455" cy="1645920"/>
          </a:xfrm>
          <a:prstGeom prst="rect">
            <a:avLst/>
          </a:prstGeom>
          <a:solidFill>
            <a:srgbClr val="EAE9E2"/>
          </a:solidFill>
          <a:ln w="9525">
            <a:solidFill>
              <a:srgbClr val="D4D2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370831"/>
            <a:ext cx="2956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45C26"/>
                </a:solidFill>
                <a:latin typeface="DejaVu Sans Mono"/>
              </a:rPr>
              <a:t>HTTPS · 443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800600"/>
            <a:ext cx="29562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Caddy · HSTS · CSP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Session HttpOnly / Secure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Ubuntu"/>
              </a:rPr>
              <a:t>Rate-limit login et commandes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05</a:t>
            </a:r>
            <a:r>
              <a:rPr sz="2800" b="1">
                <a:solidFill>
                  <a:srgbClr val="111111"/>
                </a:solidFill>
                <a:latin typeface="Ubuntu"/>
              </a:rPr>
              <a:t>   IA : Isolation Forest + YOLO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Aucun seuil statique : le modèle apprend la dynamique normale des capteurs. Vision sous 100 ms par trame.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331720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85800" y="329183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50392" y="2459736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Rappel spray butane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679191"/>
            <a:ext cx="24307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C45C26"/>
                </a:solidFill>
                <a:latin typeface="DejaVu Sans Mono"/>
              </a:rPr>
              <a:t>20/20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044952"/>
            <a:ext cx="2430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alarme 8 s médiane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90823" y="2441448"/>
            <a:ext cx="0" cy="740663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555415" y="2459736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Faux incidents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5415" y="2679191"/>
            <a:ext cx="24307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11111"/>
                </a:solidFill>
                <a:latin typeface="DejaVu Sans Mon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5415" y="3044952"/>
            <a:ext cx="2430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holdout normal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2441448"/>
            <a:ext cx="0" cy="740663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260439" y="2459736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Avance / règle statique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2679191"/>
            <a:ext cx="24307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111111"/>
                </a:solidFill>
                <a:latin typeface="DejaVu Sans Mono"/>
              </a:rPr>
              <a:t>11–52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0439" y="3044952"/>
            <a:ext cx="2430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4/4 dérives lentes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00871" y="2441448"/>
            <a:ext cx="0" cy="740663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965463" y="2459736"/>
            <a:ext cx="2430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Inférence YOLOv8n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463" y="2679191"/>
            <a:ext cx="24307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C45C26"/>
                </a:solidFill>
                <a:latin typeface="DejaVu Sans Mono"/>
              </a:rPr>
              <a:t>49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463" y="3044952"/>
            <a:ext cx="24307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CPU · &lt; 100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Maintenance prédictive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88620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Isolation Forest · 300 arbres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8 features cinétiques directionnelles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Risque 0-100 calibré sur quantiles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YOLOv8n CPU · 782×440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classe personne · confiance ≥ 0,45</a:t>
            </a:r>
          </a:p>
        </p:txBody>
      </p:sp>
      <p:pic>
        <p:nvPicPr>
          <p:cNvPr id="31" name="Picture 30" descr="ia-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703320"/>
            <a:ext cx="6248095" cy="2106916"/>
          </a:xfrm>
          <a:prstGeom prst="rect">
            <a:avLst/>
          </a:prstGeom>
          <a:ln w="9525">
            <a:solidFill>
              <a:srgbClr val="D4D2C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06</a:t>
            </a:r>
            <a:r>
              <a:rPr sz="2800" b="1">
                <a:solidFill>
                  <a:srgbClr val="111111"/>
                </a:solidFill>
                <a:latin typeface="Ubuntu"/>
              </a:rPr>
              <a:t>   Sécurité / hardening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Défense en profondeur : chiffrement, authentification, filtrage, conteneurs restreints.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Mesure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40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État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240280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Preuve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569464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2569464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MQTTS seul, port 1883 fermé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2738627"/>
            <a:ext cx="100584" cy="100584"/>
          </a:xfrm>
          <a:prstGeom prst="ellipse">
            <a:avLst/>
          </a:prstGeom>
          <a:solidFill>
            <a:srgbClr val="2F7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256946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69464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openssl s_client → TLSv1.3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008376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85800" y="3008376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Pin du certificat côté ESP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3177540"/>
            <a:ext cx="100584" cy="100584"/>
          </a:xfrm>
          <a:prstGeom prst="ellipse">
            <a:avLst/>
          </a:prstGeom>
          <a:solidFill>
            <a:srgbClr val="2F7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30083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FAIT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08376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setFingerprint()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447288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85800" y="3447288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HTTPS Caddy + en-têtes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16451"/>
            <a:ext cx="100584" cy="100584"/>
          </a:xfrm>
          <a:prstGeom prst="ellipse">
            <a:avLst/>
          </a:prstGeom>
          <a:solidFill>
            <a:srgbClr val="2F7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7" y="34472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FAIT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47288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HSTS · CSP · X-Frame DENY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388620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85800" y="3886200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Auth dashboard + rate-limit</a:t>
            </a:r>
          </a:p>
        </p:txBody>
      </p:sp>
      <p:sp>
        <p:nvSpPr>
          <p:cNvPr id="30" name="Oval 29"/>
          <p:cNvSpPr/>
          <p:nvPr/>
        </p:nvSpPr>
        <p:spPr>
          <a:xfrm>
            <a:off x="4892040" y="4055364"/>
            <a:ext cx="100584" cy="100584"/>
          </a:xfrm>
          <a:prstGeom prst="ellipse">
            <a:avLst/>
          </a:prstGeom>
          <a:solidFill>
            <a:srgbClr val="2F7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3207" y="38862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FAIT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886200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WebSocket 4401 sans session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4325112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85800" y="4325112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Caméra derrière authentification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892040" y="4494276"/>
            <a:ext cx="100584" cy="100584"/>
          </a:xfrm>
          <a:prstGeom prst="ellipse">
            <a:avLst/>
          </a:prstGeom>
          <a:solidFill>
            <a:srgbClr val="2F7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7" y="43251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FAIT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325112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/cam/health → 401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4764024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85800" y="4764024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UFW deny + DOCKER-USER</a:t>
            </a:r>
          </a:p>
        </p:txBody>
      </p:sp>
      <p:sp>
        <p:nvSpPr>
          <p:cNvPr id="40" name="Oval 39"/>
          <p:cNvSpPr/>
          <p:nvPr/>
        </p:nvSpPr>
        <p:spPr>
          <a:xfrm>
            <a:off x="4892040" y="4933188"/>
            <a:ext cx="100584" cy="100584"/>
          </a:xfrm>
          <a:prstGeom prst="ellipse">
            <a:avLst/>
          </a:prstGeom>
          <a:solidFill>
            <a:srgbClr val="2F7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93207" y="47640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FAIT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764024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8883 limité au /28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5202936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85800" y="5202936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Conteneurs read-only, cap_drop</a:t>
            </a:r>
          </a:p>
        </p:txBody>
      </p:sp>
      <p:sp>
        <p:nvSpPr>
          <p:cNvPr id="45" name="Oval 44"/>
          <p:cNvSpPr/>
          <p:nvPr/>
        </p:nvSpPr>
        <p:spPr>
          <a:xfrm>
            <a:off x="4892040" y="5372100"/>
            <a:ext cx="100584" cy="100584"/>
          </a:xfrm>
          <a:prstGeom prst="ellipse">
            <a:avLst/>
          </a:prstGeom>
          <a:solidFill>
            <a:srgbClr val="B8B6AB"/>
          </a:solidFill>
          <a:ln w="12700">
            <a:solidFill>
              <a:srgbClr val="C45C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93207" y="52029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DejaVu Sans Mono"/>
              </a:rPr>
              <a:t>PARTIEL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202936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api · ml · proxy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5800" y="5641848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85800" y="5641848"/>
            <a:ext cx="409651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Docker rootless</a:t>
            </a:r>
          </a:p>
        </p:txBody>
      </p:sp>
      <p:sp>
        <p:nvSpPr>
          <p:cNvPr id="50" name="Oval 49"/>
          <p:cNvSpPr/>
          <p:nvPr/>
        </p:nvSpPr>
        <p:spPr>
          <a:xfrm>
            <a:off x="4892040" y="5811012"/>
            <a:ext cx="100584" cy="100584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93207" y="564184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45C26"/>
                </a:solidFill>
                <a:latin typeface="DejaVu Sans Mono"/>
              </a:rPr>
              <a:t>NON FAIT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5641848"/>
            <a:ext cx="44924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Ubuntu"/>
              </a:rPr>
              <a:t>recommandation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5800" y="608076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07</a:t>
            </a:r>
            <a:r>
              <a:rPr sz="2800" b="1">
                <a:solidFill>
                  <a:srgbClr val="111111"/>
                </a:solidFill>
                <a:latin typeface="Ubuntu"/>
              </a:rPr>
              <a:t>   Démo live : checklist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Ordre de passage devant le jury.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5059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8658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86584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Stack up / healthy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04872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docker compose 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3463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685800" y="295351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89503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8950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Nœud connecté en TLS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907791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OLED : MQTTS: 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33755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685800" y="345643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392423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39242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Dashboard opérateur, télémétrie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410711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https://&lt;ip-pc&gt;/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384047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685800" y="395935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895343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89534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Écoute réseau : charge illisible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913631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wireshark tcp.port==8883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34339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685800" y="446227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98263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39826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Spray butane → pré-alerte puis sirène gaz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16551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≈ 8 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484631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85800" y="496519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901183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90118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Intrus devant la webcam → sirène intrus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919471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YOLO ≈ 49 ms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534923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685800" y="5468111"/>
            <a:ext cx="201168" cy="20116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404103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5C26"/>
                </a:solidFill>
                <a:latin typeface="DejaVu Sans Mono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404103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Ubuntu"/>
              </a:rPr>
              <a:t>Scan de ports : surface minimale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422391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nmap → 443 · 8883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5852159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SENTINEL-X · Option B — PC 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8295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0080"/>
            <a:ext cx="1082009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64008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6A64"/>
                </a:solidFill>
                <a:latin typeface="DejaVu Sans Mono"/>
              </a:rPr>
              <a:t>AetherCorp · EPSI Workshop Bac+4 ·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00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DejaVu Sans Mono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45C26"/>
                </a:solidFill>
                <a:latin typeface="DejaVu Sans Mono"/>
              </a:rPr>
              <a:t>08</a:t>
            </a:r>
            <a:r>
              <a:rPr sz="2800" b="1">
                <a:solidFill>
                  <a:srgbClr val="111111"/>
                </a:solidFill>
                <a:latin typeface="Ubuntu"/>
              </a:rPr>
              <a:t>   Équipe · questions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664208"/>
            <a:ext cx="10820095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A64"/>
                </a:solidFill>
                <a:latin typeface="Ubuntu"/>
              </a:rPr>
              <a:t>Consortium d'ingénieurs AetherCorp.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Membre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Filière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Ubuntu"/>
              </a:rPr>
              <a:t>Rôle principal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660903"/>
            <a:ext cx="7223760" cy="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2660903"/>
            <a:ext cx="2633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Nathanaël Lejuste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60903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DejaVu Sans Mono"/>
              </a:rPr>
              <a:t>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60903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163824"/>
            <a:ext cx="722376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3163824"/>
            <a:ext cx="2633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Rémy Eroes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63824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DejaVu Sans Mono"/>
              </a:rPr>
              <a:t>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63824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Dashboard &amp; système embarqué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666744"/>
            <a:ext cx="722376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3666744"/>
            <a:ext cx="2633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Amaury Malisova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66744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DejaVu Sans Mono"/>
              </a:rPr>
              <a:t>DEV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66744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IA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169663"/>
            <a:ext cx="722376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85800" y="4169663"/>
            <a:ext cx="2633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Guillaume Breon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69663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DejaVu Sans Mono"/>
              </a:rPr>
              <a:t>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69663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Ubuntu"/>
              </a:rPr>
              <a:t>Dashboard &amp; système embarqué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672583"/>
            <a:ext cx="7223760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8275320" y="2331720"/>
            <a:ext cx="54864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240280"/>
            <a:ext cx="2910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Ubuntu"/>
              </a:rPr>
              <a:t>Questions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246120"/>
            <a:ext cx="2910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A64"/>
                </a:solidFill>
                <a:latin typeface="DejaVu Sans Mono"/>
              </a:rPr>
              <a:t>Workshop2026-M1-G__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95360" y="5120640"/>
            <a:ext cx="2910535" cy="0"/>
          </a:xfrm>
          <a:prstGeom prst="line">
            <a:avLst/>
          </a:prstGeom>
          <a:ln w="9525">
            <a:solidFill>
              <a:srgbClr val="D4D2C8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8595360" y="5257800"/>
            <a:ext cx="2910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Ubuntu"/>
              </a:rPr>
              <a:t>Sentinel-X : </a:t>
            </a:r>
            <a:r>
              <a:rPr sz="1500" b="1">
                <a:solidFill>
                  <a:srgbClr val="C45C26"/>
                </a:solidFill>
                <a:latin typeface="Ubuntu"/>
              </a:rPr>
              <a:t>la sécurité à la bordure.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SENTINEL-X — Option B PC serveur</dc:title>
  <dc:subject/>
  <dc:creator>Workshop2026-M1-G__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